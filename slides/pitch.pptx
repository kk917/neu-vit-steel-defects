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Steel plants do not have big labelled defect archives. My question: how many labelled images per defect type does a vision transformer need, and is full fine-tuning worth its cost over frozen features? I answered it with real experiments on the NEU steel defect dataset, and I tested more than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Defects are rare, labels need experts. NEU has 1,800 images, six defect types. I used five-fold cross-validation, so every image is tested once, from 1 to 240 labelled images per class. Hyper-parameters were fixed before looking at test results. One honest point up front: this dataset is very uniform, every test image has a near-twin in training, so I focus on small label counts and on tests beyond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Five methods. Zero-shot CLIP uses only text prompts. Frozen CLIP trains only a tiny linear classifier. Partial fine-tuning trains the last two blocks, about 15 million parameters. Full fine-tuning updates all 86 million. An ImageNet pretrained ViT is the reference with different pretraining data. I measured seven things, not just accuracy, and I tuned the frozen baseline fairly, because an untuned baseline would flatter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Main result. Full fine-tuning of CLIP is best at every budget. At one label per class it is 12.7 points ahead of properly tuned frozen features, with an interval that excludes zero. It reaches 95 percent with 3 labels per class; tuned frozen features need 10. By 50 labels the difference is about one point and not reliable. So the answer to my question depends on label budget: with a handful of labels, fine-tune; with plenty, a tuned frozen encoder is nearly as good at a fraction of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Three findings beyond accuracy. First, rare defects: with one labelled example, plain fine-tuning finds only 6 percent; class weighting lifts that to 69 percent, so weight your classes. Second, a defect type never seen in training: fine-tuned CLIP separates it best, AUROC 0.96 versus 0.87 for frozen features. Third, a warning: although fine-tuned models are well calibrated overall, 22 percent of their mistakes at one label are made with more than 90 percent confidence. For a factory, that is the failure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Clean accuracy hides fragility. Under heavy blur or noise, accuracy falls to between 40 and 74 percent. Training with blur and noise augmentation fixes those two, up to 97 percent, but it does not fix everything: strong brightening got slightly worse, so this is protection against what you trained for, not general robustness. On ethics: keep a human in the loop for uncertain and novel items, revalidate on every plant, keep responsibility with the quality team, think about data protection if cameras capture workers, and note the compute cost of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Take-aways. With one to five labels per class, fully fine-tune a CLIP transformer, and weight rare classes. With 50 or more labels, a tuned frozen encoder is almost as good at much lower cost. Whatever you choose, check calibration, confident errors, novel defects and corruptions rather than accuracy alone. The limits are a single homogeneous dataset and few folds for some tests. Next: a more varied dataset, detection instead of classification, and testing across plants and cameras.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rtlCol="0"/>
          <a:lstStyle>
            <a:lvl1pPr algn="l" indent="0" marL="0">
              <a:buNone/>
              <a:defRPr lang="en-US" sz="2400" b="1" dirty="0">
                <a:solidFill>
                  <a:srgbClr val="1F2A33"/>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A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309360" y="-1097280"/>
            <a:ext cx="4206240" cy="4206240"/>
          </a:xfrm>
          <a:prstGeom prst="ellipse">
            <a:avLst/>
          </a:prstGeom>
          <a:solidFill>
            <a:schemeClr val="accent1">
              <a:alpha val="45000"/>
            </a:schemeClr>
          </a:solidFill>
          <a:ln w="12700">
            <a:solidFill>
              <a:schemeClr val="accent1"/>
            </a:solidFill>
            <a:prstDash val="solid"/>
          </a:ln>
        </p:spPr>
      </p:sp>
      <p:sp>
        <p:nvSpPr>
          <p:cNvPr id="3" name="Shape 1"/>
          <p:cNvSpPr/>
          <p:nvPr/>
        </p:nvSpPr>
        <p:spPr>
          <a:xfrm>
            <a:off x="7315200" y="2377440"/>
            <a:ext cx="2926080" cy="2926080"/>
          </a:xfrm>
          <a:prstGeom prst="ellipse">
            <a:avLst/>
          </a:prstGeom>
          <a:solidFill>
            <a:schemeClr val="accent2">
              <a:alpha val="40000"/>
            </a:schemeClr>
          </a:solidFill>
          <a:ln w="12700">
            <a:solidFill>
              <a:schemeClr val="accent2"/>
            </a:solidFill>
            <a:prstDash val="solid"/>
          </a:ln>
        </p:spPr>
      </p:sp>
      <p:sp>
        <p:nvSpPr>
          <p:cNvPr id="4" name="Text 2"/>
          <p:cNvSpPr txBox="1"/>
          <p:nvPr/>
        </p:nvSpPr>
        <p:spPr>
          <a:xfrm>
            <a:off x="548640" y="640080"/>
            <a:ext cx="6400800" cy="36576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MAAI901 · Applied Vision Transformer Report</a:t>
            </a:r>
            <a:endParaRPr lang="en-US" sz="1400" dirty="0"/>
          </a:p>
        </p:txBody>
      </p:sp>
      <p:sp>
        <p:nvSpPr>
          <p:cNvPr id="5" name="Text 3"/>
          <p:cNvSpPr txBox="1"/>
          <p:nvPr/>
        </p:nvSpPr>
        <p:spPr>
          <a:xfrm>
            <a:off x="548640" y="1234440"/>
            <a:ext cx="6583680" cy="173736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When Labels Are Scarce: Fine-Tuned vs Frozen CLIP for Steel Defect Classification</a:t>
            </a:r>
            <a:endParaRPr lang="en-US" sz="3200" dirty="0"/>
          </a:p>
        </p:txBody>
      </p:sp>
      <p:sp>
        <p:nvSpPr>
          <p:cNvPr id="6" name="Text 4"/>
          <p:cNvSpPr txBox="1"/>
          <p:nvPr/>
        </p:nvSpPr>
        <p:spPr>
          <a:xfrm>
            <a:off x="548640" y="3108960"/>
            <a:ext cx="6400800" cy="548640"/>
          </a:xfrm>
          <a:prstGeom prst="rect">
            <a:avLst/>
          </a:prstGeom>
          <a:noFill/>
          <a:ln/>
        </p:spPr>
        <p:txBody>
          <a:bodyPr wrap="square" lIns="0" tIns="0" rIns="0" bIns="0" rtlCol="0" anchor="t"/>
          <a:lstStyle/>
          <a:p>
            <a:pPr indent="0" marL="0">
              <a:buNone/>
            </a:pPr>
            <a:r>
              <a:rPr lang="en-US" sz="1700" dirty="0">
                <a:solidFill>
                  <a:schemeClr val="accent5"/>
                </a:solidFill>
                <a:latin typeface="Calibri" pitchFamily="34" charset="0"/>
                <a:ea typeface="Calibri" pitchFamily="34" charset="-122"/>
                <a:cs typeface="Calibri" pitchFamily="34" charset="-120"/>
              </a:rPr>
              <a:t>How many labelled images per defect does a vision transformer really need?</a:t>
            </a:r>
            <a:endParaRPr lang="en-US" sz="1700" dirty="0"/>
          </a:p>
        </p:txBody>
      </p:sp>
      <p:sp>
        <p:nvSpPr>
          <p:cNvPr id="7" name="Text 5"/>
          <p:cNvSpPr txBox="1"/>
          <p:nvPr/>
        </p:nvSpPr>
        <p:spPr>
          <a:xfrm>
            <a:off x="548640" y="4114800"/>
            <a:ext cx="5486400" cy="3200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Karthik Krishna  ·  1697286</a:t>
            </a:r>
            <a:endParaRPr lang="en-US" sz="1400" dirty="0"/>
          </a:p>
        </p:txBody>
      </p:sp>
      <p:sp>
        <p:nvSpPr>
          <p:cNvPr id="8" name="Text 6"/>
          <p:cNvSpPr txBox="1"/>
          <p:nvPr/>
        </p:nvSpPr>
        <p:spPr>
          <a:xfrm>
            <a:off x="548640" y="4480560"/>
            <a:ext cx="6400800" cy="2743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University of Wollongong in Dubai · Dr. Milan Dordevic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F2A33"/>
                </a:solidFill>
              </a:rPr>
              <a:t>Defects are rare, so labelled images are the scarce resource</a:t>
            </a:r>
            <a:endParaRPr lang="en-US" sz="2400" dirty="0"/>
          </a:p>
        </p:txBody>
      </p:sp>
      <p:sp>
        <p:nvSpPr>
          <p:cNvPr id="3" name="Text 1"/>
          <p:cNvSpPr txBox="1"/>
          <p:nvPr/>
        </p:nvSpPr>
        <p:spPr>
          <a:xfrm>
            <a:off x="457200" y="1188720"/>
            <a:ext cx="4206240" cy="274320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latin typeface="Calibri" pitchFamily="34" charset="0"/>
                <a:ea typeface="Calibri" pitchFamily="34" charset="-122"/>
                <a:cs typeface="Calibri" pitchFamily="34" charset="-120"/>
              </a:rPr>
              <a:t>Question</a:t>
            </a:r>
            <a:endParaRPr lang="en-US" sz="15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As labelled images per class shrink from 240 to 1, which way of adapting a pretrained ViT works best, and what does accuracy hide?</a:t>
            </a:r>
            <a:endParaRPr lang="en-US" sz="15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 </a:t>
            </a:r>
            <a:endParaRPr lang="en-US" sz="1500" dirty="0"/>
          </a:p>
          <a:p>
            <a:pPr indent="0" marL="0">
              <a:spcAft>
                <a:spcPts val="400"/>
              </a:spcAft>
              <a:buNone/>
            </a:pPr>
            <a:r>
              <a:rPr lang="en-US" sz="1500" b="1" dirty="0">
                <a:solidFill>
                  <a:schemeClr val="accent1"/>
                </a:solidFill>
                <a:latin typeface="Calibri" pitchFamily="34" charset="0"/>
                <a:ea typeface="Calibri" pitchFamily="34" charset="-122"/>
                <a:cs typeface="Calibri" pitchFamily="34" charset="-120"/>
              </a:rPr>
              <a:t>Data</a:t>
            </a:r>
            <a:endParaRPr lang="en-US" sz="1500" dirty="0"/>
          </a:p>
          <a:p>
            <a:pPr indent="0" marL="0">
              <a:spcAft>
                <a:spcPts val="400"/>
              </a:spcAft>
              <a:buNone/>
            </a:pPr>
            <a:r>
              <a:rPr lang="en-US" sz="1500" dirty="0">
                <a:solidFill>
                  <a:schemeClr val="tx1"/>
                </a:solidFill>
                <a:latin typeface="Calibri" pitchFamily="34" charset="0"/>
                <a:ea typeface="Calibri" pitchFamily="34" charset="-122"/>
                <a:cs typeface="Calibri" pitchFamily="34" charset="-120"/>
              </a:rPr>
              <a:t>NEU surface defects: 1,800 grayscale images, six defect types, 300 each. Very homogeneous, so it saturates near 100%.</a:t>
            </a:r>
            <a:endParaRPr lang="en-US" sz="1500" dirty="0"/>
          </a:p>
        </p:txBody>
      </p:sp>
      <p:sp>
        <p:nvSpPr>
          <p:cNvPr id="4" name="Shape 2"/>
          <p:cNvSpPr/>
          <p:nvPr/>
        </p:nvSpPr>
        <p:spPr>
          <a:xfrm>
            <a:off x="4937760" y="1188720"/>
            <a:ext cx="1737360" cy="1371600"/>
          </a:xfrm>
          <a:prstGeom prst="roundRect">
            <a:avLst>
              <a:gd name="adj" fmla="val 5333"/>
            </a:avLst>
          </a:prstGeom>
          <a:solidFill>
            <a:schemeClr val="bg2"/>
          </a:solidFill>
          <a:ln w="12700">
            <a:solidFill>
              <a:schemeClr val="bg2"/>
            </a:solidFill>
            <a:prstDash val="solid"/>
          </a:ln>
        </p:spPr>
      </p:sp>
      <p:sp>
        <p:nvSpPr>
          <p:cNvPr id="5" name="Text 3"/>
          <p:cNvSpPr txBox="1"/>
          <p:nvPr/>
        </p:nvSpPr>
        <p:spPr>
          <a:xfrm>
            <a:off x="5074920" y="1261872"/>
            <a:ext cx="1463040" cy="45720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5-fold</a:t>
            </a:r>
            <a:endParaRPr lang="en-US" sz="2800" dirty="0"/>
          </a:p>
        </p:txBody>
      </p:sp>
      <p:sp>
        <p:nvSpPr>
          <p:cNvPr id="6" name="Text 4"/>
          <p:cNvSpPr txBox="1"/>
          <p:nvPr/>
        </p:nvSpPr>
        <p:spPr>
          <a:xfrm>
            <a:off x="5074920" y="1847088"/>
            <a:ext cx="146304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cross-validation, 1,800 test predictions</a:t>
            </a:r>
            <a:endParaRPr lang="en-US" sz="1200" dirty="0"/>
          </a:p>
        </p:txBody>
      </p:sp>
      <p:sp>
        <p:nvSpPr>
          <p:cNvPr id="7" name="Shape 5"/>
          <p:cNvSpPr/>
          <p:nvPr/>
        </p:nvSpPr>
        <p:spPr>
          <a:xfrm>
            <a:off x="6858000" y="1188720"/>
            <a:ext cx="1737360" cy="1371600"/>
          </a:xfrm>
          <a:prstGeom prst="roundRect">
            <a:avLst>
              <a:gd name="adj" fmla="val 5333"/>
            </a:avLst>
          </a:prstGeom>
          <a:solidFill>
            <a:schemeClr val="bg2"/>
          </a:solidFill>
          <a:ln w="12700">
            <a:solidFill>
              <a:schemeClr val="bg2"/>
            </a:solidFill>
            <a:prstDash val="solid"/>
          </a:ln>
        </p:spPr>
      </p:sp>
      <p:sp>
        <p:nvSpPr>
          <p:cNvPr id="8" name="Text 6"/>
          <p:cNvSpPr txBox="1"/>
          <p:nvPr/>
        </p:nvSpPr>
        <p:spPr>
          <a:xfrm>
            <a:off x="6995160" y="1261872"/>
            <a:ext cx="1463040" cy="457200"/>
          </a:xfrm>
          <a:prstGeom prst="rect">
            <a:avLst/>
          </a:prstGeom>
          <a:noFill/>
          <a:ln/>
        </p:spPr>
        <p:txBody>
          <a:bodyPr wrap="square" lIns="0" tIns="0" rIns="0" bIns="0" rtlCol="0" anchor="t"/>
          <a:lstStyle/>
          <a:p>
            <a:pPr indent="0" marL="0">
              <a:buNone/>
            </a:pPr>
            <a:r>
              <a:rPr lang="en-US" sz="2800" b="1" dirty="0">
                <a:solidFill>
                  <a:schemeClr val="accent2"/>
                </a:solidFill>
                <a:latin typeface="Cambria" pitchFamily="34" charset="0"/>
                <a:ea typeface="Cambria" pitchFamily="34" charset="-122"/>
                <a:cs typeface="Cambria" pitchFamily="34" charset="-120"/>
              </a:rPr>
              <a:t>1 to 240</a:t>
            </a:r>
            <a:endParaRPr lang="en-US" sz="2800" dirty="0"/>
          </a:p>
        </p:txBody>
      </p:sp>
      <p:sp>
        <p:nvSpPr>
          <p:cNvPr id="9" name="Text 7"/>
          <p:cNvSpPr txBox="1"/>
          <p:nvPr/>
        </p:nvSpPr>
        <p:spPr>
          <a:xfrm>
            <a:off x="6995160" y="1847088"/>
            <a:ext cx="146304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labels per class (8 budgets)</a:t>
            </a:r>
            <a:endParaRPr lang="en-US" sz="1200" dirty="0"/>
          </a:p>
        </p:txBody>
      </p:sp>
      <p:sp>
        <p:nvSpPr>
          <p:cNvPr id="10" name="Shape 8"/>
          <p:cNvSpPr/>
          <p:nvPr/>
        </p:nvSpPr>
        <p:spPr>
          <a:xfrm>
            <a:off x="4937760" y="2743200"/>
            <a:ext cx="1737360" cy="1371600"/>
          </a:xfrm>
          <a:prstGeom prst="roundRect">
            <a:avLst>
              <a:gd name="adj" fmla="val 5333"/>
            </a:avLst>
          </a:prstGeom>
          <a:solidFill>
            <a:schemeClr val="bg2"/>
          </a:solidFill>
          <a:ln w="12700">
            <a:solidFill>
              <a:schemeClr val="bg2"/>
            </a:solidFill>
            <a:prstDash val="solid"/>
          </a:ln>
        </p:spPr>
      </p:sp>
      <p:sp>
        <p:nvSpPr>
          <p:cNvPr id="11" name="Text 9"/>
          <p:cNvSpPr txBox="1"/>
          <p:nvPr/>
        </p:nvSpPr>
        <p:spPr>
          <a:xfrm>
            <a:off x="5074920" y="2816352"/>
            <a:ext cx="1463040" cy="457200"/>
          </a:xfrm>
          <a:prstGeom prst="rect">
            <a:avLst/>
          </a:prstGeom>
          <a:noFill/>
          <a:ln/>
        </p:spPr>
        <p:txBody>
          <a:bodyPr wrap="square" lIns="0" tIns="0" rIns="0" bIns="0" rtlCol="0" anchor="t"/>
          <a:lstStyle/>
          <a:p>
            <a:pPr indent="0" marL="0">
              <a:buNone/>
            </a:pPr>
            <a:r>
              <a:rPr lang="en-US" sz="2800" b="1" dirty="0">
                <a:solidFill>
                  <a:schemeClr val="accent4"/>
                </a:solidFill>
                <a:latin typeface="Cambria" pitchFamily="34" charset="0"/>
                <a:ea typeface="Cambria" pitchFamily="34" charset="-122"/>
                <a:cs typeface="Cambria" pitchFamily="34" charset="-120"/>
              </a:rPr>
              <a:t>5</a:t>
            </a:r>
            <a:endParaRPr lang="en-US" sz="2800" dirty="0"/>
          </a:p>
        </p:txBody>
      </p:sp>
      <p:sp>
        <p:nvSpPr>
          <p:cNvPr id="12" name="Text 10"/>
          <p:cNvSpPr txBox="1"/>
          <p:nvPr/>
        </p:nvSpPr>
        <p:spPr>
          <a:xfrm>
            <a:off x="5074920" y="3401568"/>
            <a:ext cx="146304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methods, same splits and seeds</a:t>
            </a:r>
            <a:endParaRPr lang="en-US" sz="1200" dirty="0"/>
          </a:p>
        </p:txBody>
      </p:sp>
      <p:sp>
        <p:nvSpPr>
          <p:cNvPr id="13" name="Shape 11"/>
          <p:cNvSpPr/>
          <p:nvPr/>
        </p:nvSpPr>
        <p:spPr>
          <a:xfrm>
            <a:off x="6858000" y="2743200"/>
            <a:ext cx="1737360" cy="1371600"/>
          </a:xfrm>
          <a:prstGeom prst="roundRect">
            <a:avLst>
              <a:gd name="adj" fmla="val 5333"/>
            </a:avLst>
          </a:prstGeom>
          <a:solidFill>
            <a:schemeClr val="bg2"/>
          </a:solidFill>
          <a:ln w="12700">
            <a:solidFill>
              <a:schemeClr val="bg2"/>
            </a:solidFill>
            <a:prstDash val="solid"/>
          </a:ln>
        </p:spPr>
      </p:sp>
      <p:sp>
        <p:nvSpPr>
          <p:cNvPr id="14" name="Text 12"/>
          <p:cNvSpPr txBox="1"/>
          <p:nvPr/>
        </p:nvSpPr>
        <p:spPr>
          <a:xfrm>
            <a:off x="6995160" y="2816352"/>
            <a:ext cx="1463040" cy="457200"/>
          </a:xfrm>
          <a:prstGeom prst="rect">
            <a:avLst/>
          </a:prstGeom>
          <a:noFill/>
          <a:ln/>
        </p:spPr>
        <p:txBody>
          <a:bodyPr wrap="square" lIns="0" tIns="0" rIns="0" bIns="0" rtlCol="0" anchor="t"/>
          <a:lstStyle/>
          <a:p>
            <a:pPr indent="0" marL="0">
              <a:buNone/>
            </a:pPr>
            <a:r>
              <a:rPr lang="en-US" sz="2800" b="1" dirty="0">
                <a:solidFill>
                  <a:schemeClr val="accent6"/>
                </a:solidFill>
                <a:latin typeface="Cambria" pitchFamily="34" charset="0"/>
                <a:ea typeface="Cambria" pitchFamily="34" charset="-122"/>
                <a:cs typeface="Cambria" pitchFamily="34" charset="-120"/>
              </a:rPr>
              <a:t>0</a:t>
            </a:r>
            <a:endParaRPr lang="en-US" sz="2800" dirty="0"/>
          </a:p>
        </p:txBody>
      </p:sp>
      <p:sp>
        <p:nvSpPr>
          <p:cNvPr id="15" name="Text 13"/>
          <p:cNvSpPr txBox="1"/>
          <p:nvPr/>
        </p:nvSpPr>
        <p:spPr>
          <a:xfrm>
            <a:off x="6995160" y="3401568"/>
            <a:ext cx="146304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settings tuned on test images</a:t>
            </a:r>
            <a:endParaRPr lang="en-US" sz="1200" dirty="0"/>
          </a:p>
        </p:txBody>
      </p:sp>
      <p:sp>
        <p:nvSpPr>
          <p:cNvPr id="16" name="Text 14"/>
          <p:cNvSpPr txBox="1"/>
          <p:nvPr/>
        </p:nvSpPr>
        <p:spPr>
          <a:xfrm>
            <a:off x="457200" y="4160520"/>
            <a:ext cx="8138160" cy="457200"/>
          </a:xfrm>
          <a:prstGeom prst="rect">
            <a:avLst/>
          </a:prstGeom>
          <a:noFill/>
          <a:ln/>
        </p:spPr>
        <p:txBody>
          <a:bodyPr wrap="square" lIns="0" tIns="0" rIns="0" bIns="0" rtlCol="0" anchor="t"/>
          <a:lstStyle/>
          <a:p>
            <a:pPr indent="0" marL="0">
              <a:buNone/>
            </a:pPr>
            <a:r>
              <a:rPr lang="en-US" sz="1200" i="1" dirty="0">
                <a:solidFill>
                  <a:schemeClr val="accent3"/>
                </a:solidFill>
                <a:latin typeface="Calibri" pitchFamily="34" charset="0"/>
                <a:ea typeface="Calibri" pitchFamily="34" charset="-122"/>
                <a:cs typeface="Calibri" pitchFamily="34" charset="-120"/>
              </a:rPr>
              <a:t>Why it matters in the UAE: AI is a national priority, and manufacturing inspection needs data-efficient, trustworthy models.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F2A33"/>
                </a:solidFill>
              </a:rPr>
              <a:t>Five ways to use a pretrained transformer, compared on identical splits</a:t>
            </a:r>
            <a:endParaRPr lang="en-US" sz="2400" dirty="0"/>
          </a:p>
        </p:txBody>
      </p:sp>
      <p:sp>
        <p:nvSpPr>
          <p:cNvPr id="3" name="Shape 1"/>
          <p:cNvSpPr/>
          <p:nvPr/>
        </p:nvSpPr>
        <p:spPr>
          <a:xfrm>
            <a:off x="457200" y="1234440"/>
            <a:ext cx="1536192" cy="1920240"/>
          </a:xfrm>
          <a:prstGeom prst="roundRect">
            <a:avLst>
              <a:gd name="adj" fmla="val 4762"/>
            </a:avLst>
          </a:prstGeom>
          <a:solidFill>
            <a:schemeClr val="bg2"/>
          </a:solidFill>
          <a:ln w="12700">
            <a:solidFill>
              <a:schemeClr val="bg2"/>
            </a:solidFill>
            <a:prstDash val="solid"/>
          </a:ln>
        </p:spPr>
      </p:sp>
      <p:sp>
        <p:nvSpPr>
          <p:cNvPr id="4" name="Shape 2"/>
          <p:cNvSpPr/>
          <p:nvPr/>
        </p:nvSpPr>
        <p:spPr>
          <a:xfrm>
            <a:off x="457200" y="1234440"/>
            <a:ext cx="1536192" cy="82296"/>
          </a:xfrm>
          <a:prstGeom prst="rect">
            <a:avLst/>
          </a:prstGeom>
          <a:solidFill>
            <a:schemeClr val="accent3"/>
          </a:solidFill>
          <a:ln w="12700">
            <a:solidFill>
              <a:schemeClr val="accent3"/>
            </a:solidFill>
            <a:prstDash val="solid"/>
          </a:ln>
        </p:spPr>
      </p:sp>
      <p:sp>
        <p:nvSpPr>
          <p:cNvPr id="5" name="Text 3"/>
          <p:cNvSpPr txBox="1"/>
          <p:nvPr/>
        </p:nvSpPr>
        <p:spPr>
          <a:xfrm>
            <a:off x="566928" y="1417320"/>
            <a:ext cx="1325880" cy="54864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Zero-shot CLIP</a:t>
            </a:r>
            <a:endParaRPr lang="en-US" sz="1400" dirty="0"/>
          </a:p>
        </p:txBody>
      </p:sp>
      <p:sp>
        <p:nvSpPr>
          <p:cNvPr id="6" name="Text 4"/>
          <p:cNvSpPr txBox="1"/>
          <p:nvPr/>
        </p:nvSpPr>
        <p:spPr>
          <a:xfrm>
            <a:off x="566928" y="2011680"/>
            <a:ext cx="1325880" cy="36576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No training</a:t>
            </a:r>
            <a:endParaRPr lang="en-US" sz="1200" dirty="0"/>
          </a:p>
        </p:txBody>
      </p:sp>
      <p:sp>
        <p:nvSpPr>
          <p:cNvPr id="7" name="Text 5"/>
          <p:cNvSpPr txBox="1"/>
          <p:nvPr/>
        </p:nvSpPr>
        <p:spPr>
          <a:xfrm>
            <a:off x="566928" y="2423160"/>
            <a:ext cx="1325880" cy="6400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Text prompts only</a:t>
            </a:r>
            <a:endParaRPr lang="en-US" sz="1100" dirty="0"/>
          </a:p>
        </p:txBody>
      </p:sp>
      <p:sp>
        <p:nvSpPr>
          <p:cNvPr id="8" name="Shape 6"/>
          <p:cNvSpPr/>
          <p:nvPr/>
        </p:nvSpPr>
        <p:spPr>
          <a:xfrm>
            <a:off x="2103120" y="1234440"/>
            <a:ext cx="1536192" cy="1920240"/>
          </a:xfrm>
          <a:prstGeom prst="roundRect">
            <a:avLst>
              <a:gd name="adj" fmla="val 4762"/>
            </a:avLst>
          </a:prstGeom>
          <a:solidFill>
            <a:schemeClr val="bg2"/>
          </a:solidFill>
          <a:ln w="12700">
            <a:solidFill>
              <a:schemeClr val="bg2"/>
            </a:solidFill>
            <a:prstDash val="solid"/>
          </a:ln>
        </p:spPr>
      </p:sp>
      <p:sp>
        <p:nvSpPr>
          <p:cNvPr id="9" name="Shape 7"/>
          <p:cNvSpPr/>
          <p:nvPr/>
        </p:nvSpPr>
        <p:spPr>
          <a:xfrm>
            <a:off x="2103120" y="1234440"/>
            <a:ext cx="1536192" cy="82296"/>
          </a:xfrm>
          <a:prstGeom prst="rect">
            <a:avLst/>
          </a:prstGeom>
          <a:solidFill>
            <a:schemeClr val="accent4"/>
          </a:solidFill>
          <a:ln w="12700">
            <a:solidFill>
              <a:schemeClr val="accent4"/>
            </a:solidFill>
            <a:prstDash val="solid"/>
          </a:ln>
        </p:spPr>
      </p:sp>
      <p:sp>
        <p:nvSpPr>
          <p:cNvPr id="10" name="Text 8"/>
          <p:cNvSpPr txBox="1"/>
          <p:nvPr/>
        </p:nvSpPr>
        <p:spPr>
          <a:xfrm>
            <a:off x="2212848" y="1417320"/>
            <a:ext cx="1325880" cy="54864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Frozen CLIP + LR</a:t>
            </a:r>
            <a:endParaRPr lang="en-US" sz="1400" dirty="0"/>
          </a:p>
        </p:txBody>
      </p:sp>
      <p:sp>
        <p:nvSpPr>
          <p:cNvPr id="11" name="Text 9"/>
          <p:cNvSpPr txBox="1"/>
          <p:nvPr/>
        </p:nvSpPr>
        <p:spPr>
          <a:xfrm>
            <a:off x="2212848" y="2011680"/>
            <a:ext cx="1325880" cy="36576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3k parameters</a:t>
            </a:r>
            <a:endParaRPr lang="en-US" sz="1200" dirty="0"/>
          </a:p>
        </p:txBody>
      </p:sp>
      <p:sp>
        <p:nvSpPr>
          <p:cNvPr id="12" name="Text 10"/>
          <p:cNvSpPr txBox="1"/>
          <p:nvPr/>
        </p:nvSpPr>
        <p:spPr>
          <a:xfrm>
            <a:off x="2212848" y="2423160"/>
            <a:ext cx="1325880" cy="6400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Linear classifier on frozen features</a:t>
            </a:r>
            <a:endParaRPr lang="en-US" sz="1100" dirty="0"/>
          </a:p>
        </p:txBody>
      </p:sp>
      <p:sp>
        <p:nvSpPr>
          <p:cNvPr id="13" name="Shape 11"/>
          <p:cNvSpPr/>
          <p:nvPr/>
        </p:nvSpPr>
        <p:spPr>
          <a:xfrm>
            <a:off x="3749040" y="1234440"/>
            <a:ext cx="1536192" cy="1920240"/>
          </a:xfrm>
          <a:prstGeom prst="roundRect">
            <a:avLst>
              <a:gd name="adj" fmla="val 4762"/>
            </a:avLst>
          </a:prstGeom>
          <a:solidFill>
            <a:schemeClr val="bg2"/>
          </a:solidFill>
          <a:ln w="12700">
            <a:solidFill>
              <a:schemeClr val="bg2"/>
            </a:solidFill>
            <a:prstDash val="solid"/>
          </a:ln>
        </p:spPr>
      </p:sp>
      <p:sp>
        <p:nvSpPr>
          <p:cNvPr id="14" name="Shape 12"/>
          <p:cNvSpPr/>
          <p:nvPr/>
        </p:nvSpPr>
        <p:spPr>
          <a:xfrm>
            <a:off x="3749040" y="1234440"/>
            <a:ext cx="1536192" cy="82296"/>
          </a:xfrm>
          <a:prstGeom prst="rect">
            <a:avLst/>
          </a:prstGeom>
          <a:solidFill>
            <a:schemeClr val="accent2"/>
          </a:solidFill>
          <a:ln w="12700">
            <a:solidFill>
              <a:schemeClr val="accent2"/>
            </a:solidFill>
            <a:prstDash val="solid"/>
          </a:ln>
        </p:spPr>
      </p:sp>
      <p:sp>
        <p:nvSpPr>
          <p:cNvPr id="15" name="Text 13"/>
          <p:cNvSpPr txBox="1"/>
          <p:nvPr/>
        </p:nvSpPr>
        <p:spPr>
          <a:xfrm>
            <a:off x="3858768" y="1417320"/>
            <a:ext cx="1325880" cy="54864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Partial fine-tune</a:t>
            </a:r>
            <a:endParaRPr lang="en-US" sz="1400" dirty="0"/>
          </a:p>
        </p:txBody>
      </p:sp>
      <p:sp>
        <p:nvSpPr>
          <p:cNvPr id="16" name="Text 14"/>
          <p:cNvSpPr txBox="1"/>
          <p:nvPr/>
        </p:nvSpPr>
        <p:spPr>
          <a:xfrm>
            <a:off x="3858768" y="2011680"/>
            <a:ext cx="1325880" cy="36576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about 15M parameters</a:t>
            </a:r>
            <a:endParaRPr lang="en-US" sz="1200" dirty="0"/>
          </a:p>
        </p:txBody>
      </p:sp>
      <p:sp>
        <p:nvSpPr>
          <p:cNvPr id="17" name="Text 15"/>
          <p:cNvSpPr txBox="1"/>
          <p:nvPr/>
        </p:nvSpPr>
        <p:spPr>
          <a:xfrm>
            <a:off x="3858768" y="2423160"/>
            <a:ext cx="1325880" cy="6400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Last 2 of 12 blocks</a:t>
            </a:r>
            <a:endParaRPr lang="en-US" sz="1100" dirty="0"/>
          </a:p>
        </p:txBody>
      </p:sp>
      <p:sp>
        <p:nvSpPr>
          <p:cNvPr id="18" name="Shape 16"/>
          <p:cNvSpPr/>
          <p:nvPr/>
        </p:nvSpPr>
        <p:spPr>
          <a:xfrm>
            <a:off x="5394960" y="1234440"/>
            <a:ext cx="1536192" cy="1920240"/>
          </a:xfrm>
          <a:prstGeom prst="roundRect">
            <a:avLst>
              <a:gd name="adj" fmla="val 4762"/>
            </a:avLst>
          </a:prstGeom>
          <a:solidFill>
            <a:schemeClr val="bg2"/>
          </a:solidFill>
          <a:ln w="12700">
            <a:solidFill>
              <a:schemeClr val="bg2"/>
            </a:solidFill>
            <a:prstDash val="solid"/>
          </a:ln>
        </p:spPr>
      </p:sp>
      <p:sp>
        <p:nvSpPr>
          <p:cNvPr id="19" name="Shape 17"/>
          <p:cNvSpPr/>
          <p:nvPr/>
        </p:nvSpPr>
        <p:spPr>
          <a:xfrm>
            <a:off x="5394960" y="1234440"/>
            <a:ext cx="1536192" cy="82296"/>
          </a:xfrm>
          <a:prstGeom prst="rect">
            <a:avLst/>
          </a:prstGeom>
          <a:solidFill>
            <a:schemeClr val="accent1"/>
          </a:solidFill>
          <a:ln w="12700">
            <a:solidFill>
              <a:schemeClr val="accent1"/>
            </a:solidFill>
            <a:prstDash val="solid"/>
          </a:ln>
        </p:spPr>
      </p:sp>
      <p:sp>
        <p:nvSpPr>
          <p:cNvPr id="20" name="Text 18"/>
          <p:cNvSpPr txBox="1"/>
          <p:nvPr/>
        </p:nvSpPr>
        <p:spPr>
          <a:xfrm>
            <a:off x="5504688" y="1417320"/>
            <a:ext cx="1325880" cy="54864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Full fine-tune</a:t>
            </a:r>
            <a:endParaRPr lang="en-US" sz="1400" dirty="0"/>
          </a:p>
        </p:txBody>
      </p:sp>
      <p:sp>
        <p:nvSpPr>
          <p:cNvPr id="21" name="Text 19"/>
          <p:cNvSpPr txBox="1"/>
          <p:nvPr/>
        </p:nvSpPr>
        <p:spPr>
          <a:xfrm>
            <a:off x="5504688" y="2011680"/>
            <a:ext cx="1325880" cy="36576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about 86M parameters</a:t>
            </a:r>
            <a:endParaRPr lang="en-US" sz="1200" dirty="0"/>
          </a:p>
        </p:txBody>
      </p:sp>
      <p:sp>
        <p:nvSpPr>
          <p:cNvPr id="22" name="Text 20"/>
          <p:cNvSpPr txBox="1"/>
          <p:nvPr/>
        </p:nvSpPr>
        <p:spPr>
          <a:xfrm>
            <a:off x="5504688" y="2423160"/>
            <a:ext cx="1325880" cy="6400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CLIP ViT-B/16, all weights</a:t>
            </a:r>
            <a:endParaRPr lang="en-US" sz="1100" dirty="0"/>
          </a:p>
        </p:txBody>
      </p:sp>
      <p:sp>
        <p:nvSpPr>
          <p:cNvPr id="23" name="Shape 21"/>
          <p:cNvSpPr/>
          <p:nvPr/>
        </p:nvSpPr>
        <p:spPr>
          <a:xfrm>
            <a:off x="7040880" y="1234440"/>
            <a:ext cx="1536192" cy="1920240"/>
          </a:xfrm>
          <a:prstGeom prst="roundRect">
            <a:avLst>
              <a:gd name="adj" fmla="val 4762"/>
            </a:avLst>
          </a:prstGeom>
          <a:solidFill>
            <a:schemeClr val="bg2"/>
          </a:solidFill>
          <a:ln w="12700">
            <a:solidFill>
              <a:schemeClr val="bg2"/>
            </a:solidFill>
            <a:prstDash val="solid"/>
          </a:ln>
        </p:spPr>
      </p:sp>
      <p:sp>
        <p:nvSpPr>
          <p:cNvPr id="24" name="Shape 22"/>
          <p:cNvSpPr/>
          <p:nvPr/>
        </p:nvSpPr>
        <p:spPr>
          <a:xfrm>
            <a:off x="7040880" y="1234440"/>
            <a:ext cx="1536192" cy="82296"/>
          </a:xfrm>
          <a:prstGeom prst="rect">
            <a:avLst/>
          </a:prstGeom>
          <a:solidFill>
            <a:schemeClr val="accent5"/>
          </a:solidFill>
          <a:ln w="12700">
            <a:solidFill>
              <a:schemeClr val="accent5"/>
            </a:solidFill>
            <a:prstDash val="solid"/>
          </a:ln>
        </p:spPr>
      </p:sp>
      <p:sp>
        <p:nvSpPr>
          <p:cNvPr id="25" name="Text 23"/>
          <p:cNvSpPr txBox="1"/>
          <p:nvPr/>
        </p:nvSpPr>
        <p:spPr>
          <a:xfrm>
            <a:off x="7150608" y="1417320"/>
            <a:ext cx="1325880" cy="54864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ImageNet ViT</a:t>
            </a:r>
            <a:endParaRPr lang="en-US" sz="1400" dirty="0"/>
          </a:p>
        </p:txBody>
      </p:sp>
      <p:sp>
        <p:nvSpPr>
          <p:cNvPr id="26" name="Text 24"/>
          <p:cNvSpPr txBox="1"/>
          <p:nvPr/>
        </p:nvSpPr>
        <p:spPr>
          <a:xfrm>
            <a:off x="7150608" y="2011680"/>
            <a:ext cx="1325880" cy="365760"/>
          </a:xfrm>
          <a:prstGeom prst="rect">
            <a:avLst/>
          </a:prstGeom>
          <a:noFill/>
          <a:ln/>
        </p:spPr>
        <p:txBody>
          <a:bodyPr wrap="square" lIns="0" tIns="0" rIns="0" bIns="0" rtlCol="0" anchor="t"/>
          <a:lstStyle/>
          <a:p>
            <a:pPr indent="0" marL="0">
              <a:buNone/>
            </a:pPr>
            <a:r>
              <a:rPr lang="en-US" sz="1200" b="1" dirty="0">
                <a:solidFill>
                  <a:schemeClr val="accent1"/>
                </a:solidFill>
                <a:latin typeface="Calibri" pitchFamily="34" charset="0"/>
                <a:ea typeface="Calibri" pitchFamily="34" charset="-122"/>
                <a:cs typeface="Calibri" pitchFamily="34" charset="-120"/>
              </a:rPr>
              <a:t>about 86M parameters</a:t>
            </a:r>
            <a:endParaRPr lang="en-US" sz="1200" dirty="0"/>
          </a:p>
        </p:txBody>
      </p:sp>
      <p:sp>
        <p:nvSpPr>
          <p:cNvPr id="27" name="Text 25"/>
          <p:cNvSpPr txBox="1"/>
          <p:nvPr/>
        </p:nvSpPr>
        <p:spPr>
          <a:xfrm>
            <a:off x="7150608" y="2423160"/>
            <a:ext cx="1325880" cy="64008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Reference, other pretraining</a:t>
            </a:r>
            <a:endParaRPr lang="en-US" sz="1100" dirty="0"/>
          </a:p>
        </p:txBody>
      </p:sp>
      <p:sp>
        <p:nvSpPr>
          <p:cNvPr id="28" name="Text 26"/>
          <p:cNvSpPr txBox="1"/>
          <p:nvPr/>
        </p:nvSpPr>
        <p:spPr>
          <a:xfrm>
            <a:off x="457200" y="3429000"/>
            <a:ext cx="8229600" cy="1097280"/>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latin typeface="Calibri" pitchFamily="34" charset="0"/>
                <a:ea typeface="Calibri" pitchFamily="34" charset="-122"/>
                <a:cs typeface="Calibri" pitchFamily="34" charset="-120"/>
              </a:rPr>
              <a:t>Measured: </a:t>
            </a:r>
            <a:pPr indent="0" marL="0">
              <a:spcAft>
                <a:spcPts val="600"/>
              </a:spcAft>
              <a:buNone/>
            </a:pPr>
            <a:r>
              <a:rPr lang="en-US" sz="1400" dirty="0">
                <a:solidFill>
                  <a:schemeClr val="tx1"/>
                </a:solidFill>
                <a:latin typeface="Calibri" pitchFamily="34" charset="0"/>
                <a:ea typeface="Calibri" pitchFamily="34" charset="-122"/>
                <a:cs typeface="Calibri" pitchFamily="34" charset="-120"/>
              </a:rPr>
              <a:t>accuracy, log-loss, calibration error, confident mistakes, rare-defect recall, unseen-defect AUROC, blur and noise robustness.</a:t>
            </a:r>
            <a:endParaRPr lang="en-US" sz="1400" dirty="0"/>
          </a:p>
          <a:p>
            <a:pPr indent="0" marL="0">
              <a:spcAft>
                <a:spcPts val="600"/>
              </a:spcAft>
              <a:buNone/>
            </a:pPr>
            <a:r>
              <a:rPr lang="en-US" sz="1400" b="1" dirty="0">
                <a:solidFill>
                  <a:schemeClr val="accent1"/>
                </a:solidFill>
                <a:latin typeface="Calibri" pitchFamily="34" charset="0"/>
                <a:ea typeface="Calibri" pitchFamily="34" charset="-122"/>
                <a:cs typeface="Calibri" pitchFamily="34" charset="-120"/>
              </a:rPr>
              <a:t>Compared: </a:t>
            </a:r>
            <a:pPr indent="0" marL="0">
              <a:spcAft>
                <a:spcPts val="600"/>
              </a:spcAft>
              <a:buNone/>
            </a:pPr>
            <a:r>
              <a:rPr lang="en-US" sz="1400" dirty="0">
                <a:solidFill>
                  <a:schemeClr val="tx1"/>
                </a:solidFill>
                <a:latin typeface="Calibri" pitchFamily="34" charset="0"/>
                <a:ea typeface="Calibri" pitchFamily="34" charset="-122"/>
                <a:cs typeface="Calibri" pitchFamily="34" charset="-120"/>
              </a:rPr>
              <a:t>paired differences with 95% intervals across folds; frozen baseline also tuned fairly on validation images.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F2A33"/>
                </a:solidFill>
              </a:rPr>
              <a:t>Fine-tuning wins with few labels, and the gap closes by about 50</a:t>
            </a:r>
            <a:endParaRPr lang="en-US" sz="2400" dirty="0"/>
          </a:p>
        </p:txBody>
      </p:sp>
      <p:pic>
        <p:nvPicPr>
          <p:cNvPr id="3" name="Image 0" descr="/home/claude/fig/fig1_learning_curves.png">    </p:cNvPr>
          <p:cNvPicPr>
            <a:picLocks noChangeAspect="1"/>
          </p:cNvPicPr>
          <p:nvPr/>
        </p:nvPicPr>
        <p:blipFill>
          <a:blip r:embed="rId1"/>
          <a:stretch>
            <a:fillRect/>
          </a:stretch>
        </p:blipFill>
        <p:spPr>
          <a:xfrm>
            <a:off x="365760" y="1188720"/>
            <a:ext cx="5669280" cy="2514600"/>
          </a:xfrm>
          <a:prstGeom prst="rect">
            <a:avLst/>
          </a:prstGeom>
        </p:spPr>
      </p:pic>
      <p:sp>
        <p:nvSpPr>
          <p:cNvPr id="4" name="Shape 1"/>
          <p:cNvSpPr/>
          <p:nvPr/>
        </p:nvSpPr>
        <p:spPr>
          <a:xfrm>
            <a:off x="6217920" y="1188720"/>
            <a:ext cx="2560320" cy="960120"/>
          </a:xfrm>
          <a:prstGeom prst="roundRect">
            <a:avLst>
              <a:gd name="adj" fmla="val 7619"/>
            </a:avLst>
          </a:prstGeom>
          <a:solidFill>
            <a:schemeClr val="bg2"/>
          </a:solidFill>
          <a:ln w="12700">
            <a:solidFill>
              <a:schemeClr val="bg2"/>
            </a:solidFill>
            <a:prstDash val="solid"/>
          </a:ln>
        </p:spPr>
      </p:sp>
      <p:sp>
        <p:nvSpPr>
          <p:cNvPr id="5" name="Text 2"/>
          <p:cNvSpPr txBox="1"/>
          <p:nvPr/>
        </p:nvSpPr>
        <p:spPr>
          <a:xfrm>
            <a:off x="6355080" y="1261872"/>
            <a:ext cx="228600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3 labels</a:t>
            </a:r>
            <a:endParaRPr lang="en-US" sz="2400" dirty="0"/>
          </a:p>
        </p:txBody>
      </p:sp>
      <p:sp>
        <p:nvSpPr>
          <p:cNvPr id="6" name="Text 3"/>
          <p:cNvSpPr txBox="1"/>
          <p:nvPr/>
        </p:nvSpPr>
        <p:spPr>
          <a:xfrm>
            <a:off x="6355080" y="1719072"/>
            <a:ext cx="2286000" cy="393192"/>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per class: full fine-tune reaches 95% (tuned frozen: 10)</a:t>
            </a:r>
            <a:endParaRPr lang="en-US" sz="1100" dirty="0"/>
          </a:p>
        </p:txBody>
      </p:sp>
      <p:sp>
        <p:nvSpPr>
          <p:cNvPr id="7" name="Shape 4"/>
          <p:cNvSpPr/>
          <p:nvPr/>
        </p:nvSpPr>
        <p:spPr>
          <a:xfrm>
            <a:off x="6217920" y="2286000"/>
            <a:ext cx="2560320" cy="960120"/>
          </a:xfrm>
          <a:prstGeom prst="roundRect">
            <a:avLst>
              <a:gd name="adj" fmla="val 7619"/>
            </a:avLst>
          </a:prstGeom>
          <a:solidFill>
            <a:schemeClr val="bg2"/>
          </a:solidFill>
          <a:ln w="12700">
            <a:solidFill>
              <a:schemeClr val="bg2"/>
            </a:solidFill>
            <a:prstDash val="solid"/>
          </a:ln>
        </p:spPr>
      </p:sp>
      <p:sp>
        <p:nvSpPr>
          <p:cNvPr id="8" name="Text 5"/>
          <p:cNvSpPr txBox="1"/>
          <p:nvPr/>
        </p:nvSpPr>
        <p:spPr>
          <a:xfrm>
            <a:off x="6355080" y="2359152"/>
            <a:ext cx="228600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+12.7 pts</a:t>
            </a:r>
            <a:endParaRPr lang="en-US" sz="2400" dirty="0"/>
          </a:p>
        </p:txBody>
      </p:sp>
      <p:sp>
        <p:nvSpPr>
          <p:cNvPr id="9" name="Text 6"/>
          <p:cNvSpPr txBox="1"/>
          <p:nvPr/>
        </p:nvSpPr>
        <p:spPr>
          <a:xfrm>
            <a:off x="6355080" y="2816352"/>
            <a:ext cx="2286000" cy="393192"/>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at 1 label vs tuned frozen (95% CI 8.4 to 17.1)</a:t>
            </a:r>
            <a:endParaRPr lang="en-US" sz="1100" dirty="0"/>
          </a:p>
        </p:txBody>
      </p:sp>
      <p:sp>
        <p:nvSpPr>
          <p:cNvPr id="10" name="Shape 7"/>
          <p:cNvSpPr/>
          <p:nvPr/>
        </p:nvSpPr>
        <p:spPr>
          <a:xfrm>
            <a:off x="6217920" y="3383280"/>
            <a:ext cx="2560320" cy="960120"/>
          </a:xfrm>
          <a:prstGeom prst="roundRect">
            <a:avLst>
              <a:gd name="adj" fmla="val 7619"/>
            </a:avLst>
          </a:prstGeom>
          <a:solidFill>
            <a:schemeClr val="bg2"/>
          </a:solidFill>
          <a:ln w="12700">
            <a:solidFill>
              <a:schemeClr val="bg2"/>
            </a:solidFill>
            <a:prstDash val="solid"/>
          </a:ln>
        </p:spPr>
      </p:sp>
      <p:sp>
        <p:nvSpPr>
          <p:cNvPr id="11" name="Text 8"/>
          <p:cNvSpPr txBox="1"/>
          <p:nvPr/>
        </p:nvSpPr>
        <p:spPr>
          <a:xfrm>
            <a:off x="6355080" y="3456432"/>
            <a:ext cx="2286000" cy="457200"/>
          </a:xfrm>
          <a:prstGeom prst="rect">
            <a:avLst/>
          </a:prstGeom>
          <a:noFill/>
          <a:ln/>
        </p:spPr>
        <p:txBody>
          <a:bodyPr wrap="square" lIns="0" tIns="0" rIns="0" bIns="0" rtlCol="0" anchor="t"/>
          <a:lstStyle/>
          <a:p>
            <a:pPr indent="0" marL="0">
              <a:buNone/>
            </a:pPr>
            <a:r>
              <a:rPr lang="en-US" sz="2400" b="1" dirty="0">
                <a:solidFill>
                  <a:schemeClr val="accent4"/>
                </a:solidFill>
                <a:latin typeface="Cambria" pitchFamily="34" charset="0"/>
                <a:ea typeface="Cambria" pitchFamily="34" charset="-122"/>
                <a:cs typeface="Cambria" pitchFamily="34" charset="-120"/>
              </a:rPr>
              <a:t>about 1 pt</a:t>
            </a:r>
            <a:endParaRPr lang="en-US" sz="2400" dirty="0"/>
          </a:p>
        </p:txBody>
      </p:sp>
      <p:sp>
        <p:nvSpPr>
          <p:cNvPr id="12" name="Text 9"/>
          <p:cNvSpPr txBox="1"/>
          <p:nvPr/>
        </p:nvSpPr>
        <p:spPr>
          <a:xfrm>
            <a:off x="6355080" y="3913632"/>
            <a:ext cx="2286000" cy="393192"/>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difference from 50 labels on; interval includes zero</a:t>
            </a:r>
            <a:endParaRPr lang="en-US" sz="1100" dirty="0"/>
          </a:p>
        </p:txBody>
      </p:sp>
      <p:sp>
        <p:nvSpPr>
          <p:cNvPr id="13" name="Text 10"/>
          <p:cNvSpPr txBox="1"/>
          <p:nvPr/>
        </p:nvSpPr>
        <p:spPr>
          <a:xfrm>
            <a:off x="457200" y="3886200"/>
            <a:ext cx="566928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Partial fine-tuning is 5 and 3 points behind full at 1 and 2 labels, then equal. CLIP beats the ImageNet ViT only at 1 label (+8.4 pts).</a:t>
            </a:r>
            <a:endParaRPr lang="en-US" sz="1200" dirty="0"/>
          </a:p>
        </p:txBody>
      </p:sp>
      <p:sp>
        <p:nvSpPr>
          <p:cNvPr id="14" name="Text 11"/>
          <p:cNvSpPr txBox="1"/>
          <p:nvPr/>
        </p:nvSpPr>
        <p:spPr>
          <a:xfrm>
            <a:off x="457200" y="4754880"/>
            <a:ext cx="7772400" cy="228600"/>
          </a:xfrm>
          <a:prstGeom prst="rect">
            <a:avLst/>
          </a:prstGeom>
          <a:noFill/>
          <a:ln/>
        </p:spPr>
        <p:txBody>
          <a:bodyPr wrap="square" lIns="0" tIns="0" rIns="0" bIns="0" rtlCol="0" anchor="t"/>
          <a:lstStyle/>
          <a:p>
            <a:pPr indent="0" marL="0">
              <a:buNone/>
            </a:pPr>
            <a:r>
              <a:rPr lang="en-US" sz="900" dirty="0">
                <a:solidFill>
                  <a:schemeClr val="accent3"/>
                </a:solidFill>
                <a:latin typeface="Calibri" pitchFamily="34" charset="0"/>
                <a:ea typeface="Calibri" pitchFamily="34" charset="-122"/>
                <a:cs typeface="Calibri" pitchFamily="34" charset="-120"/>
              </a:rPr>
              <a:t>Mean over 5 folds, shaded band is one SD. Intervals are approximate because folds share training images.</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F2A33"/>
                </a:solidFill>
              </a:rPr>
              <a:t>Beyond accuracy: rare defects, unseen defects and confident mistakes</a:t>
            </a:r>
            <a:endParaRPr lang="en-US" sz="2400" dirty="0"/>
          </a:p>
        </p:txBody>
      </p:sp>
      <p:pic>
        <p:nvPicPr>
          <p:cNvPr id="3" name="Image 0" descr="/home/claude/fig/fig2_rare_defect.png">    </p:cNvPr>
          <p:cNvPicPr>
            <a:picLocks noChangeAspect="1"/>
          </p:cNvPicPr>
          <p:nvPr/>
        </p:nvPicPr>
        <p:blipFill>
          <a:blip r:embed="rId1"/>
          <a:stretch>
            <a:fillRect/>
          </a:stretch>
        </p:blipFill>
        <p:spPr>
          <a:xfrm>
            <a:off x="365760" y="1188720"/>
            <a:ext cx="4480560" cy="2167128"/>
          </a:xfrm>
          <a:prstGeom prst="rect">
            <a:avLst/>
          </a:prstGeom>
        </p:spPr>
      </p:pic>
      <p:sp>
        <p:nvSpPr>
          <p:cNvPr id="4" name="Text 1"/>
          <p:cNvSpPr txBox="1"/>
          <p:nvPr/>
        </p:nvSpPr>
        <p:spPr>
          <a:xfrm>
            <a:off x="457200" y="3401568"/>
            <a:ext cx="4389120" cy="457200"/>
          </a:xfrm>
          <a:prstGeom prst="rect">
            <a:avLst/>
          </a:prstGeom>
          <a:noFill/>
          <a:ln/>
        </p:spPr>
        <p:txBody>
          <a:bodyPr wrap="square" lIns="0" tIns="0" rIns="0" bIns="0" rtlCol="0" anchor="t"/>
          <a:lstStyle/>
          <a:p>
            <a:pPr indent="0" marL="0">
              <a:buNone/>
            </a:pPr>
            <a:r>
              <a:rPr lang="en-US" sz="1100" i="1" dirty="0">
                <a:solidFill>
                  <a:schemeClr val="accent3"/>
                </a:solidFill>
                <a:latin typeface="Calibri" pitchFamily="34" charset="0"/>
                <a:ea typeface="Calibri" pitchFamily="34" charset="-122"/>
                <a:cs typeface="Calibri" pitchFamily="34" charset="-120"/>
              </a:rPr>
              <a:t>Recall for a rare defect with 1, 5 or 20 labelled examples (others have 50)</a:t>
            </a:r>
            <a:endParaRPr lang="en-US" sz="1100" dirty="0"/>
          </a:p>
        </p:txBody>
      </p:sp>
      <p:sp>
        <p:nvSpPr>
          <p:cNvPr id="5" name="Shape 2"/>
          <p:cNvSpPr/>
          <p:nvPr/>
        </p:nvSpPr>
        <p:spPr>
          <a:xfrm>
            <a:off x="5029200" y="1188720"/>
            <a:ext cx="3749040" cy="960120"/>
          </a:xfrm>
          <a:prstGeom prst="roundRect">
            <a:avLst>
              <a:gd name="adj" fmla="val 7619"/>
            </a:avLst>
          </a:prstGeom>
          <a:solidFill>
            <a:schemeClr val="bg2"/>
          </a:solidFill>
          <a:ln w="12700">
            <a:solidFill>
              <a:schemeClr val="bg2"/>
            </a:solidFill>
            <a:prstDash val="solid"/>
          </a:ln>
        </p:spPr>
      </p:sp>
      <p:sp>
        <p:nvSpPr>
          <p:cNvPr id="6" name="Text 3"/>
          <p:cNvSpPr txBox="1"/>
          <p:nvPr/>
        </p:nvSpPr>
        <p:spPr>
          <a:xfrm>
            <a:off x="5166360" y="1261872"/>
            <a:ext cx="347472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69% vs 6%</a:t>
            </a:r>
            <a:endParaRPr lang="en-US" sz="2400" dirty="0"/>
          </a:p>
        </p:txBody>
      </p:sp>
      <p:sp>
        <p:nvSpPr>
          <p:cNvPr id="7" name="Text 4"/>
          <p:cNvSpPr txBox="1"/>
          <p:nvPr/>
        </p:nvSpPr>
        <p:spPr>
          <a:xfrm>
            <a:off x="5166360" y="1719072"/>
            <a:ext cx="3474720" cy="393192"/>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rare-defect recall at 1 example: class-weighted vs plain fine-tuning</a:t>
            </a:r>
            <a:endParaRPr lang="en-US" sz="1100" dirty="0"/>
          </a:p>
        </p:txBody>
      </p:sp>
      <p:sp>
        <p:nvSpPr>
          <p:cNvPr id="8" name="Shape 5"/>
          <p:cNvSpPr/>
          <p:nvPr/>
        </p:nvSpPr>
        <p:spPr>
          <a:xfrm>
            <a:off x="5029200" y="2286000"/>
            <a:ext cx="3749040" cy="960120"/>
          </a:xfrm>
          <a:prstGeom prst="roundRect">
            <a:avLst>
              <a:gd name="adj" fmla="val 7619"/>
            </a:avLst>
          </a:prstGeom>
          <a:solidFill>
            <a:schemeClr val="bg2"/>
          </a:solidFill>
          <a:ln w="12700">
            <a:solidFill>
              <a:schemeClr val="bg2"/>
            </a:solidFill>
            <a:prstDash val="solid"/>
          </a:ln>
        </p:spPr>
      </p:sp>
      <p:sp>
        <p:nvSpPr>
          <p:cNvPr id="9" name="Text 6"/>
          <p:cNvSpPr txBox="1"/>
          <p:nvPr/>
        </p:nvSpPr>
        <p:spPr>
          <a:xfrm>
            <a:off x="5166360" y="2359152"/>
            <a:ext cx="347472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0.963 vs 0.866</a:t>
            </a:r>
            <a:endParaRPr lang="en-US" sz="2400" dirty="0"/>
          </a:p>
        </p:txBody>
      </p:sp>
      <p:sp>
        <p:nvSpPr>
          <p:cNvPr id="10" name="Text 7"/>
          <p:cNvSpPr txBox="1"/>
          <p:nvPr/>
        </p:nvSpPr>
        <p:spPr>
          <a:xfrm>
            <a:off x="5166360" y="2816352"/>
            <a:ext cx="3474720" cy="393192"/>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AUROC for spotting a never-seen defect: fine-tuned vs frozen</a:t>
            </a:r>
            <a:endParaRPr lang="en-US" sz="1100" dirty="0"/>
          </a:p>
        </p:txBody>
      </p:sp>
      <p:sp>
        <p:nvSpPr>
          <p:cNvPr id="11" name="Shape 8"/>
          <p:cNvSpPr/>
          <p:nvPr/>
        </p:nvSpPr>
        <p:spPr>
          <a:xfrm>
            <a:off x="5029200" y="3383280"/>
            <a:ext cx="3749040" cy="960120"/>
          </a:xfrm>
          <a:prstGeom prst="roundRect">
            <a:avLst>
              <a:gd name="adj" fmla="val 7619"/>
            </a:avLst>
          </a:prstGeom>
          <a:solidFill>
            <a:schemeClr val="bg2"/>
          </a:solidFill>
          <a:ln w="12700">
            <a:solidFill>
              <a:schemeClr val="bg2"/>
            </a:solidFill>
            <a:prstDash val="solid"/>
          </a:ln>
        </p:spPr>
      </p:sp>
      <p:sp>
        <p:nvSpPr>
          <p:cNvPr id="12" name="Text 9"/>
          <p:cNvSpPr txBox="1"/>
          <p:nvPr/>
        </p:nvSpPr>
        <p:spPr>
          <a:xfrm>
            <a:off x="5166360" y="3456432"/>
            <a:ext cx="3474720" cy="457200"/>
          </a:xfrm>
          <a:prstGeom prst="rect">
            <a:avLst/>
          </a:prstGeom>
          <a:noFill/>
          <a:ln/>
        </p:spPr>
        <p:txBody>
          <a:bodyPr wrap="square" lIns="0" tIns="0" rIns="0" bIns="0" rtlCol="0" anchor="t"/>
          <a:lstStyle/>
          <a:p>
            <a:pPr indent="0" marL="0">
              <a:buNone/>
            </a:pPr>
            <a:r>
              <a:rPr lang="en-US" sz="2400" b="1" dirty="0">
                <a:solidFill>
                  <a:schemeClr val="accent6"/>
                </a:solidFill>
                <a:latin typeface="Cambria" pitchFamily="34" charset="0"/>
                <a:ea typeface="Cambria" pitchFamily="34" charset="-122"/>
                <a:cs typeface="Cambria" pitchFamily="34" charset="-120"/>
              </a:rPr>
              <a:t>22%</a:t>
            </a:r>
            <a:endParaRPr lang="en-US" sz="2400" dirty="0"/>
          </a:p>
        </p:txBody>
      </p:sp>
      <p:sp>
        <p:nvSpPr>
          <p:cNvPr id="13" name="Text 10"/>
          <p:cNvSpPr txBox="1"/>
          <p:nvPr/>
        </p:nvSpPr>
        <p:spPr>
          <a:xfrm>
            <a:off x="5166360" y="3913632"/>
            <a:ext cx="3474720" cy="393192"/>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of the fine-tuned model's errors at 1 label are made with 90%+ confidence</a:t>
            </a:r>
            <a:endParaRPr lang="en-US" sz="1100" dirty="0"/>
          </a:p>
        </p:txBody>
      </p:sp>
      <p:sp>
        <p:nvSpPr>
          <p:cNvPr id="14" name="Text 11"/>
          <p:cNvSpPr txBox="1"/>
          <p:nvPr/>
        </p:nvSpPr>
        <p:spPr>
          <a:xfrm>
            <a:off x="457200" y="3977640"/>
            <a:ext cx="4389120" cy="54864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Good average calibration does not make a confident prediction trustworthy.</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777240"/>
          </a:xfrm>
          <a:prstGeom prst="rect">
            <a:avLst/>
          </a:prstGeom>
          <a:noFill/>
          <a:ln/>
        </p:spPr>
        <p:txBody>
          <a:bodyPr wrap="square" lIns="0" tIns="0" rIns="0" bIns="0" rtlCol="0" anchor="ctr"/>
          <a:lstStyle/>
          <a:p>
            <a:pPr algn="l" indent="0" marL="0">
              <a:buNone/>
            </a:pPr>
            <a:r>
              <a:rPr lang="en-US" sz="2400" b="1" dirty="0">
                <a:solidFill>
                  <a:srgbClr val="1F2A33"/>
                </a:solidFill>
              </a:rPr>
              <a:t>Robustness is not automatic, and deployment needs human oversight</a:t>
            </a:r>
            <a:endParaRPr lang="en-US" sz="2400" dirty="0"/>
          </a:p>
        </p:txBody>
      </p:sp>
      <p:pic>
        <p:nvPicPr>
          <p:cNvPr id="3" name="Image 0" descr="/home/claude/fig/fig4_robustness.png">    </p:cNvPr>
          <p:cNvPicPr>
            <a:picLocks noChangeAspect="1"/>
          </p:cNvPicPr>
          <p:nvPr/>
        </p:nvPicPr>
        <p:blipFill>
          <a:blip r:embed="rId1"/>
          <a:stretch>
            <a:fillRect/>
          </a:stretch>
        </p:blipFill>
        <p:spPr>
          <a:xfrm>
            <a:off x="365760" y="1188720"/>
            <a:ext cx="4937760" cy="2057400"/>
          </a:xfrm>
          <a:prstGeom prst="rect">
            <a:avLst/>
          </a:prstGeom>
        </p:spPr>
      </p:pic>
      <p:sp>
        <p:nvSpPr>
          <p:cNvPr id="4" name="Text 1"/>
          <p:cNvSpPr txBox="1"/>
          <p:nvPr/>
        </p:nvSpPr>
        <p:spPr>
          <a:xfrm>
            <a:off x="457200" y="3337560"/>
            <a:ext cx="4754880" cy="8229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Heaviest blur: 61% (fine-tuned CLIP) to 97% with blur and noise augmentation. The gain applies only to distortions seen in training; brightness got slightly worse.</a:t>
            </a:r>
            <a:endParaRPr lang="en-US" sz="1200" dirty="0"/>
          </a:p>
        </p:txBody>
      </p:sp>
      <p:sp>
        <p:nvSpPr>
          <p:cNvPr id="5" name="Shape 2"/>
          <p:cNvSpPr/>
          <p:nvPr/>
        </p:nvSpPr>
        <p:spPr>
          <a:xfrm>
            <a:off x="5486400" y="1188720"/>
            <a:ext cx="3291840" cy="3246120"/>
          </a:xfrm>
          <a:prstGeom prst="roundRect">
            <a:avLst>
              <a:gd name="adj" fmla="val 2254"/>
            </a:avLst>
          </a:prstGeom>
          <a:solidFill>
            <a:schemeClr val="bg2"/>
          </a:solidFill>
          <a:ln w="12700">
            <a:solidFill>
              <a:schemeClr val="bg2"/>
            </a:solidFill>
            <a:prstDash val="solid"/>
          </a:ln>
        </p:spPr>
      </p:sp>
      <p:sp>
        <p:nvSpPr>
          <p:cNvPr id="6" name="Text 3"/>
          <p:cNvSpPr txBox="1"/>
          <p:nvPr/>
        </p:nvSpPr>
        <p:spPr>
          <a:xfrm>
            <a:off x="5669280" y="1298448"/>
            <a:ext cx="3017520" cy="32004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Ethical and societal points</a:t>
            </a:r>
            <a:endParaRPr lang="en-US" sz="1400" dirty="0"/>
          </a:p>
        </p:txBody>
      </p:sp>
      <p:sp>
        <p:nvSpPr>
          <p:cNvPr id="7" name="Text 4"/>
          <p:cNvSpPr txBox="1"/>
          <p:nvPr/>
        </p:nvSpPr>
        <p:spPr>
          <a:xfrm>
            <a:off x="5669280" y="1691640"/>
            <a:ext cx="3017520" cy="2697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1"/>
                </a:solidFill>
                <a:latin typeface="Calibri" pitchFamily="34" charset="0"/>
                <a:ea typeface="Calibri" pitchFamily="34" charset="-122"/>
                <a:cs typeface="Calibri" pitchFamily="34" charset="-120"/>
              </a:rPr>
              <a:t>Human review of low-confidence and novel items; log every decision</a:t>
            </a:r>
            <a:endParaRPr lang="en-US" sz="1100" dirty="0"/>
          </a:p>
          <a:p>
            <a:pPr marL="342900" indent="-342900">
              <a:spcAft>
                <a:spcPts val="400"/>
              </a:spcAft>
              <a:buSzPct val="100000"/>
              <a:buChar char="•"/>
            </a:pPr>
            <a:r>
              <a:rPr lang="en-US" sz="1100" dirty="0">
                <a:solidFill>
                  <a:schemeClr val="tx1"/>
                </a:solidFill>
                <a:latin typeface="Calibri" pitchFamily="34" charset="0"/>
                <a:ea typeface="Calibri" pitchFamily="34" charset="-122"/>
                <a:cs typeface="Calibri" pitchFamily="34" charset="-120"/>
              </a:rPr>
              <a:t>Revalidate on each plant: one lab, one camera here</a:t>
            </a:r>
            <a:endParaRPr lang="en-US" sz="1100" dirty="0"/>
          </a:p>
          <a:p>
            <a:pPr marL="342900" indent="-342900">
              <a:spcAft>
                <a:spcPts val="400"/>
              </a:spcAft>
              <a:buSzPct val="100000"/>
              <a:buChar char="•"/>
            </a:pPr>
            <a:r>
              <a:rPr lang="en-US" sz="1100" dirty="0">
                <a:solidFill>
                  <a:schemeClr val="tx1"/>
                </a:solidFill>
                <a:latin typeface="Calibri" pitchFamily="34" charset="0"/>
                <a:ea typeface="Calibri" pitchFamily="34" charset="-122"/>
                <a:cs typeface="Calibri" pitchFamily="34" charset="-120"/>
              </a:rPr>
              <a:t>No people in the images; cameras on a shop floor would bring data-protection duties</a:t>
            </a:r>
            <a:endParaRPr lang="en-US" sz="1100" dirty="0"/>
          </a:p>
          <a:p>
            <a:pPr marL="342900" indent="-342900">
              <a:spcAft>
                <a:spcPts val="400"/>
              </a:spcAft>
              <a:buSzPct val="100000"/>
              <a:buChar char="•"/>
            </a:pPr>
            <a:r>
              <a:rPr lang="en-US" sz="1100" dirty="0">
                <a:solidFill>
                  <a:schemeClr val="tx1"/>
                </a:solidFill>
                <a:latin typeface="Calibri" pitchFamily="34" charset="0"/>
                <a:ea typeface="Calibri" pitchFamily="34" charset="-122"/>
                <a:cs typeface="Calibri" pitchFamily="34" charset="-120"/>
              </a:rPr>
              <a:t>Assist inspectors rather than replace them; the UAE AI strategy flags manufacturing for automation</a:t>
            </a:r>
            <a:endParaRPr lang="en-US" sz="1100" dirty="0"/>
          </a:p>
          <a:p>
            <a:pPr marL="342900" indent="-342900">
              <a:spcAft>
                <a:spcPts val="400"/>
              </a:spcAft>
              <a:buSzPct val="100000"/>
              <a:buChar char="•"/>
            </a:pPr>
            <a:r>
              <a:rPr lang="en-US" sz="1100" dirty="0">
                <a:solidFill>
                  <a:schemeClr val="tx1"/>
                </a:solidFill>
                <a:latin typeface="Calibri" pitchFamily="34" charset="0"/>
                <a:ea typeface="Calibri" pitchFamily="34" charset="-122"/>
                <a:cs typeface="Calibri" pitchFamily="34" charset="-120"/>
              </a:rPr>
              <a:t>Fine-tuning costs far more compute than frozen features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B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Conclusions and what comes next</a:t>
            </a:r>
            <a:endParaRPr lang="en-US" sz="2600" dirty="0"/>
          </a:p>
        </p:txBody>
      </p:sp>
      <p:sp>
        <p:nvSpPr>
          <p:cNvPr id="3" name="Shape 1"/>
          <p:cNvSpPr/>
          <p:nvPr/>
        </p:nvSpPr>
        <p:spPr>
          <a:xfrm>
            <a:off x="457200" y="1051560"/>
            <a:ext cx="2651760" cy="1600200"/>
          </a:xfrm>
          <a:prstGeom prst="roundRect">
            <a:avLst>
              <a:gd name="adj" fmla="val 4571"/>
            </a:avLst>
          </a:prstGeom>
          <a:solidFill>
            <a:srgbClr val="2E4A5F"/>
          </a:solidFill>
          <a:ln w="12700">
            <a:solidFill>
              <a:srgbClr val="2E4A5F"/>
            </a:solidFill>
            <a:prstDash val="solid"/>
          </a:ln>
        </p:spPr>
      </p:sp>
      <p:sp>
        <p:nvSpPr>
          <p:cNvPr id="4" name="Shape 2"/>
          <p:cNvSpPr/>
          <p:nvPr/>
        </p:nvSpPr>
        <p:spPr>
          <a:xfrm>
            <a:off x="457200" y="1051560"/>
            <a:ext cx="2651760" cy="73152"/>
          </a:xfrm>
          <a:prstGeom prst="rect">
            <a:avLst/>
          </a:prstGeom>
          <a:solidFill>
            <a:schemeClr val="accent2"/>
          </a:solidFill>
          <a:ln w="12700">
            <a:solidFill>
              <a:schemeClr val="accent2"/>
            </a:solidFill>
            <a:prstDash val="solid"/>
          </a:ln>
        </p:spPr>
      </p:sp>
      <p:sp>
        <p:nvSpPr>
          <p:cNvPr id="5" name="Text 3"/>
          <p:cNvSpPr txBox="1"/>
          <p:nvPr/>
        </p:nvSpPr>
        <p:spPr>
          <a:xfrm>
            <a:off x="594360" y="1234440"/>
            <a:ext cx="2377440" cy="365760"/>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Few labels (1 to 5)</a:t>
            </a:r>
            <a:endParaRPr lang="en-US" sz="1500" dirty="0"/>
          </a:p>
        </p:txBody>
      </p:sp>
      <p:sp>
        <p:nvSpPr>
          <p:cNvPr id="6" name="Text 4"/>
          <p:cNvSpPr txBox="1"/>
          <p:nvPr/>
        </p:nvSpPr>
        <p:spPr>
          <a:xfrm>
            <a:off x="594360" y="1645920"/>
            <a:ext cx="2377440" cy="9601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Fully fine-tune CLIP; use class weights for rare defects</a:t>
            </a:r>
            <a:endParaRPr lang="en-US" sz="1200" dirty="0"/>
          </a:p>
        </p:txBody>
      </p:sp>
      <p:sp>
        <p:nvSpPr>
          <p:cNvPr id="7" name="Shape 5"/>
          <p:cNvSpPr/>
          <p:nvPr/>
        </p:nvSpPr>
        <p:spPr>
          <a:xfrm>
            <a:off x="3246120" y="1051560"/>
            <a:ext cx="2651760" cy="1600200"/>
          </a:xfrm>
          <a:prstGeom prst="roundRect">
            <a:avLst>
              <a:gd name="adj" fmla="val 4571"/>
            </a:avLst>
          </a:prstGeom>
          <a:solidFill>
            <a:srgbClr val="2E4A5F"/>
          </a:solidFill>
          <a:ln w="12700">
            <a:solidFill>
              <a:srgbClr val="2E4A5F"/>
            </a:solidFill>
            <a:prstDash val="solid"/>
          </a:ln>
        </p:spPr>
      </p:sp>
      <p:sp>
        <p:nvSpPr>
          <p:cNvPr id="8" name="Shape 6"/>
          <p:cNvSpPr/>
          <p:nvPr/>
        </p:nvSpPr>
        <p:spPr>
          <a:xfrm>
            <a:off x="3246120" y="1051560"/>
            <a:ext cx="2651760" cy="73152"/>
          </a:xfrm>
          <a:prstGeom prst="rect">
            <a:avLst/>
          </a:prstGeom>
          <a:solidFill>
            <a:schemeClr val="accent4"/>
          </a:solidFill>
          <a:ln w="12700">
            <a:solidFill>
              <a:schemeClr val="accent4"/>
            </a:solidFill>
            <a:prstDash val="solid"/>
          </a:ln>
        </p:spPr>
      </p:sp>
      <p:sp>
        <p:nvSpPr>
          <p:cNvPr id="9" name="Text 7"/>
          <p:cNvSpPr txBox="1"/>
          <p:nvPr/>
        </p:nvSpPr>
        <p:spPr>
          <a:xfrm>
            <a:off x="3383280" y="1234440"/>
            <a:ext cx="2377440" cy="365760"/>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Many labels (50+)</a:t>
            </a:r>
            <a:endParaRPr lang="en-US" sz="1500" dirty="0"/>
          </a:p>
        </p:txBody>
      </p:sp>
      <p:sp>
        <p:nvSpPr>
          <p:cNvPr id="10" name="Text 8"/>
          <p:cNvSpPr txBox="1"/>
          <p:nvPr/>
        </p:nvSpPr>
        <p:spPr>
          <a:xfrm>
            <a:off x="3383280" y="1645920"/>
            <a:ext cx="2377440" cy="9601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A tuned frozen encoder is within about 1 point at a fraction of the cost</a:t>
            </a:r>
            <a:endParaRPr lang="en-US" sz="1200" dirty="0"/>
          </a:p>
        </p:txBody>
      </p:sp>
      <p:sp>
        <p:nvSpPr>
          <p:cNvPr id="11" name="Shape 9"/>
          <p:cNvSpPr/>
          <p:nvPr/>
        </p:nvSpPr>
        <p:spPr>
          <a:xfrm>
            <a:off x="6035040" y="1051560"/>
            <a:ext cx="2651760" cy="1600200"/>
          </a:xfrm>
          <a:prstGeom prst="roundRect">
            <a:avLst>
              <a:gd name="adj" fmla="val 4571"/>
            </a:avLst>
          </a:prstGeom>
          <a:solidFill>
            <a:srgbClr val="2E4A5F"/>
          </a:solidFill>
          <a:ln w="12700">
            <a:solidFill>
              <a:srgbClr val="2E4A5F"/>
            </a:solidFill>
            <a:prstDash val="solid"/>
          </a:ln>
        </p:spPr>
      </p:sp>
      <p:sp>
        <p:nvSpPr>
          <p:cNvPr id="12" name="Shape 10"/>
          <p:cNvSpPr/>
          <p:nvPr/>
        </p:nvSpPr>
        <p:spPr>
          <a:xfrm>
            <a:off x="6035040" y="1051560"/>
            <a:ext cx="2651760" cy="73152"/>
          </a:xfrm>
          <a:prstGeom prst="rect">
            <a:avLst/>
          </a:prstGeom>
          <a:solidFill>
            <a:schemeClr val="accent1"/>
          </a:solidFill>
          <a:ln w="12700">
            <a:solidFill>
              <a:schemeClr val="accent1"/>
            </a:solidFill>
            <a:prstDash val="solid"/>
          </a:ln>
        </p:spPr>
      </p:sp>
      <p:sp>
        <p:nvSpPr>
          <p:cNvPr id="13" name="Text 11"/>
          <p:cNvSpPr txBox="1"/>
          <p:nvPr/>
        </p:nvSpPr>
        <p:spPr>
          <a:xfrm>
            <a:off x="6172200" y="1234440"/>
            <a:ext cx="2377440" cy="365760"/>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Always</a:t>
            </a:r>
            <a:endParaRPr lang="en-US" sz="1500" dirty="0"/>
          </a:p>
        </p:txBody>
      </p:sp>
      <p:sp>
        <p:nvSpPr>
          <p:cNvPr id="14" name="Text 12"/>
          <p:cNvSpPr txBox="1"/>
          <p:nvPr/>
        </p:nvSpPr>
        <p:spPr>
          <a:xfrm>
            <a:off x="6172200" y="1645920"/>
            <a:ext cx="2377440" cy="96012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Check calibration, confident errors, novel defects and corruptions, not just accuracy</a:t>
            </a:r>
            <a:endParaRPr lang="en-US" sz="1200" dirty="0"/>
          </a:p>
        </p:txBody>
      </p:sp>
      <p:sp>
        <p:nvSpPr>
          <p:cNvPr id="15" name="Text 13"/>
          <p:cNvSpPr txBox="1"/>
          <p:nvPr/>
        </p:nvSpPr>
        <p:spPr>
          <a:xfrm>
            <a:off x="457200" y="2926080"/>
            <a:ext cx="4023360" cy="320040"/>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Limits</a:t>
            </a:r>
            <a:endParaRPr lang="en-US" sz="1500" dirty="0"/>
          </a:p>
        </p:txBody>
      </p:sp>
      <p:sp>
        <p:nvSpPr>
          <p:cNvPr id="16" name="Text 14"/>
          <p:cNvSpPr txBox="1"/>
          <p:nvPr/>
        </p:nvSpPr>
        <p:spPr>
          <a:xfrm>
            <a:off x="457200" y="3291840"/>
            <a:ext cx="402336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accent5"/>
                </a:solidFill>
                <a:latin typeface="Calibri" pitchFamily="34" charset="0"/>
                <a:ea typeface="Calibri" pitchFamily="34" charset="-122"/>
                <a:cs typeface="Calibri" pitchFamily="34" charset="-120"/>
              </a:rPr>
              <a:t>One homogeneous dataset; saturates above 50 labels</a:t>
            </a:r>
            <a:endParaRPr lang="en-US" sz="1200" dirty="0"/>
          </a:p>
          <a:p>
            <a:pPr marL="342900" indent="-342900">
              <a:spcAft>
                <a:spcPts val="300"/>
              </a:spcAft>
              <a:buSzPct val="100000"/>
              <a:buChar char="•"/>
            </a:pPr>
            <a:r>
              <a:rPr lang="en-US" sz="1200" dirty="0">
                <a:solidFill>
                  <a:schemeClr val="accent5"/>
                </a:solidFill>
                <a:latin typeface="Calibri" pitchFamily="34" charset="0"/>
                <a:ea typeface="Calibri" pitchFamily="34" charset="-122"/>
                <a:cs typeface="Calibri" pitchFamily="34" charset="-120"/>
              </a:rPr>
              <a:t>360 test images per fold; some tests use one fold</a:t>
            </a:r>
            <a:endParaRPr lang="en-US" sz="1200" dirty="0"/>
          </a:p>
          <a:p>
            <a:pPr marL="342900" indent="-342900">
              <a:spcAft>
                <a:spcPts val="300"/>
              </a:spcAft>
              <a:buSzPct val="100000"/>
              <a:buChar char="•"/>
            </a:pPr>
            <a:r>
              <a:rPr lang="en-US" sz="1200" dirty="0">
                <a:solidFill>
                  <a:schemeClr val="accent5"/>
                </a:solidFill>
                <a:latin typeface="Calibri" pitchFamily="34" charset="0"/>
                <a:ea typeface="Calibri" pitchFamily="34" charset="-122"/>
                <a:cs typeface="Calibri" pitchFamily="34" charset="-120"/>
              </a:rPr>
              <a:t>No convolutional baseline</a:t>
            </a:r>
            <a:endParaRPr lang="en-US" sz="1200" dirty="0"/>
          </a:p>
        </p:txBody>
      </p:sp>
      <p:sp>
        <p:nvSpPr>
          <p:cNvPr id="17" name="Text 15"/>
          <p:cNvSpPr txBox="1"/>
          <p:nvPr/>
        </p:nvSpPr>
        <p:spPr>
          <a:xfrm>
            <a:off x="4663440" y="2926080"/>
            <a:ext cx="4023360" cy="320040"/>
          </a:xfrm>
          <a:prstGeom prst="rect">
            <a:avLst/>
          </a:prstGeom>
          <a:noFill/>
          <a:ln/>
        </p:spPr>
        <p:txBody>
          <a:bodyPr wrap="square" lIns="0" tIns="0" rIns="0" bIns="0" rtlCol="0" anchor="t"/>
          <a:lstStyle/>
          <a:p>
            <a:pPr indent="0" marL="0">
              <a:buNone/>
            </a:pPr>
            <a:r>
              <a:rPr lang="en-US" sz="1500" b="1" dirty="0">
                <a:solidFill>
                  <a:schemeClr val="accent2"/>
                </a:solidFill>
                <a:latin typeface="Cambria" pitchFamily="34" charset="0"/>
                <a:ea typeface="Cambria" pitchFamily="34" charset="-122"/>
                <a:cs typeface="Cambria" pitchFamily="34" charset="-120"/>
              </a:rPr>
              <a:t>Future work</a:t>
            </a:r>
            <a:endParaRPr lang="en-US" sz="1500" dirty="0"/>
          </a:p>
        </p:txBody>
      </p:sp>
      <p:sp>
        <p:nvSpPr>
          <p:cNvPr id="18" name="Text 16"/>
          <p:cNvSpPr txBox="1"/>
          <p:nvPr/>
        </p:nvSpPr>
        <p:spPr>
          <a:xfrm>
            <a:off x="4663440" y="3291840"/>
            <a:ext cx="402336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accent5"/>
                </a:solidFill>
                <a:latin typeface="Calibri" pitchFamily="34" charset="0"/>
                <a:ea typeface="Calibri" pitchFamily="34" charset="-122"/>
                <a:cs typeface="Calibri" pitchFamily="34" charset="-120"/>
              </a:rPr>
              <a:t>A second dataset such as GC10-DET or X-SDD</a:t>
            </a:r>
            <a:endParaRPr lang="en-US" sz="1200" dirty="0"/>
          </a:p>
          <a:p>
            <a:pPr marL="342900" indent="-342900">
              <a:spcAft>
                <a:spcPts val="300"/>
              </a:spcAft>
              <a:buSzPct val="100000"/>
              <a:buChar char="•"/>
            </a:pPr>
            <a:r>
              <a:rPr lang="en-US" sz="1200" dirty="0">
                <a:solidFill>
                  <a:schemeClr val="accent5"/>
                </a:solidFill>
                <a:latin typeface="Calibri" pitchFamily="34" charset="0"/>
                <a:ea typeface="Calibri" pitchFamily="34" charset="-122"/>
                <a:cs typeface="Calibri" pitchFamily="34" charset="-120"/>
              </a:rPr>
              <a:t>Detection instead of classification; plant and camera shift</a:t>
            </a:r>
            <a:endParaRPr lang="en-US" sz="1200" dirty="0"/>
          </a:p>
          <a:p>
            <a:pPr marL="342900" indent="-342900">
              <a:spcAft>
                <a:spcPts val="300"/>
              </a:spcAft>
              <a:buSzPct val="100000"/>
              <a:buChar char="•"/>
            </a:pPr>
            <a:r>
              <a:rPr lang="en-US" sz="1200" dirty="0">
                <a:solidFill>
                  <a:schemeClr val="accent5"/>
                </a:solidFill>
                <a:latin typeface="Calibri" pitchFamily="34" charset="0"/>
                <a:ea typeface="Calibri" pitchFamily="34" charset="-122"/>
                <a:cs typeface="Calibri" pitchFamily="34" charset="-120"/>
              </a:rPr>
              <a:t>Parameter-efficient fine-tuning, calibrated abstention</a:t>
            </a:r>
            <a:endParaRPr lang="en-US" sz="1200" dirty="0"/>
          </a:p>
        </p:txBody>
      </p:sp>
      <p:sp>
        <p:nvSpPr>
          <p:cNvPr id="19" name="Text 17"/>
          <p:cNvSpPr txBox="1"/>
          <p:nvPr/>
        </p:nvSpPr>
        <p:spPr>
          <a:xfrm>
            <a:off x="457200" y="4617720"/>
            <a:ext cx="8229600" cy="274320"/>
          </a:xfrm>
          <a:prstGeom prst="rect">
            <a:avLst/>
          </a:prstGeom>
          <a:noFill/>
          <a:ln/>
        </p:spPr>
        <p:txBody>
          <a:bodyPr wrap="square" lIns="0" tIns="0" rIns="0" bIns="0" rtlCol="0" anchor="t"/>
          <a:lstStyle/>
          <a:p>
            <a:pPr indent="0" marL="0">
              <a:buNone/>
            </a:pPr>
            <a:r>
              <a:rPr lang="en-US" sz="1000" dirty="0">
                <a:solidFill>
                  <a:schemeClr val="accent3"/>
                </a:solidFill>
                <a:latin typeface="Calibri" pitchFamily="34" charset="0"/>
                <a:ea typeface="Calibri" pitchFamily="34" charset="-122"/>
                <a:cs typeface="Calibri" pitchFamily="34" charset="-120"/>
              </a:rPr>
              <a:t>Code, results and report: GitHub repository (link in the report)</a:t>
            </a:r>
            <a:endParaRPr lang="en-US" sz="1000" dirty="0"/>
          </a:p>
        </p:txBody>
      </p:sp>
    </p:spTree>
  </p:cSld>
  <p:clrMapOvr>
    <a:masterClrMapping/>
  </p:clrMapOvr>
</p:sld>
</file>

<file path=ppt/theme/theme1.xml><?xml version="1.0" encoding="utf-8"?>
<a:theme xmlns:a="http://schemas.openxmlformats.org/drawingml/2006/main" name="Steel Ember">
  <a:themeElements>
    <a:clrScheme name="Steel Ember">
      <a:dk1>
        <a:srgbClr val="1F2A33"/>
      </a:dk1>
      <a:lt1>
        <a:srgbClr val="FFFFFF"/>
      </a:lt1>
      <a:dk2>
        <a:srgbClr val="2E4A5F"/>
      </a:dk2>
      <a:lt2>
        <a:srgbClr val="EEF2F5"/>
      </a:lt2>
      <a:accent1>
        <a:srgbClr val="3D6B8C"/>
      </a:accent1>
      <a:accent2>
        <a:srgbClr val="E8743B"/>
      </a:accent2>
      <a:accent3>
        <a:srgbClr val="7A8B99"/>
      </a:accent3>
      <a:accent4>
        <a:srgbClr val="2F7D6B"/>
      </a:accent4>
      <a:accent5>
        <a:srgbClr val="B8C4CE"/>
      </a:accent5>
      <a:accent6>
        <a:srgbClr val="B03A2E"/>
      </a:accent6>
      <a:hlink>
        <a:srgbClr val="3D6B8C"/>
      </a:hlink>
      <a:folHlink>
        <a:srgbClr val="7A8B99"/>
      </a:folHlink>
    </a:clrScheme>
    <a:fontScheme name="Steel E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Applied Vision Transformer Report: pitch</dc:title>
  <dc:subject>PptxGenJS Presentation</dc:subject>
  <dc:creator>Karthik Krishna</dc:creator>
  <cp:lastModifiedBy>Karthik Krishna</cp:lastModifiedBy>
  <cp:revision>1</cp:revision>
  <dcterms:created xsi:type="dcterms:W3CDTF">2026-10-22T10:05:10Z</dcterms:created>
  <dcterms:modified xsi:type="dcterms:W3CDTF">2026-10-22T10:05:10Z</dcterms:modified>
</cp:coreProperties>
</file>